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f71e273b42c42cf" /><Relationship Type="http://schemas.openxmlformats.org/officeDocument/2006/relationships/extended-properties" Target="/docProps/app.xml" Id="R7203fb0cae5d42e9" /><Relationship Type="http://schemas.openxmlformats.org/officeDocument/2006/relationships/officeDocument" Target="/ppt/presentation.xml" Id="Rccb424ae5ef64b0e" /></Relationships>
</file>

<file path=ppt/presentation.xml><?xml version="1.0" encoding="utf-8"?>
<p:presentation xmlns:p="http://schemas.openxmlformats.org/presentationml/2006/main">
  <p:sldMasterIdLst>
    <p:sldMasterId xmlns:r="http://schemas.openxmlformats.org/officeDocument/2006/relationships" id="2147483648" r:id="R755567be5f6c44c3"/>
  </p:sldMasterIdLst>
  <p:notesMasterIdLst>
    <p:notesMasterId xmlns:r="http://schemas.openxmlformats.org/officeDocument/2006/relationships" r:id="R34def93e77d74ce5"/>
  </p:notesMasterIdLst>
  <p:sldIdLst>
    <p:sldId xmlns:r="http://schemas.openxmlformats.org/officeDocument/2006/relationships" id="256" r:id="Rcb35ac8eff304aee"/>
    <p:sldId xmlns:r="http://schemas.openxmlformats.org/officeDocument/2006/relationships" id="257" r:id="R22d55e677d9c4cdf"/>
    <p:sldId xmlns:r="http://schemas.openxmlformats.org/officeDocument/2006/relationships" id="258" r:id="Rb89e009063e74972"/>
    <p:sldId xmlns:r="http://schemas.openxmlformats.org/officeDocument/2006/relationships" id="259" r:id="R42d4820af30a4713"/>
    <p:sldId xmlns:r="http://schemas.openxmlformats.org/officeDocument/2006/relationships" id="260" r:id="R74a4136109854ed8"/>
    <p:sldId xmlns:r="http://schemas.openxmlformats.org/officeDocument/2006/relationships" id="261" r:id="R33b2906e5d76440b"/>
    <p:sldId xmlns:r="http://schemas.openxmlformats.org/officeDocument/2006/relationships" id="262" r:id="R4c4e4b172fa1452a"/>
    <p:sldId xmlns:r="http://schemas.openxmlformats.org/officeDocument/2006/relationships" id="263" r:id="R3b4114c2c1b448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422691df634e21" /><Relationship Type="http://schemas.openxmlformats.org/officeDocument/2006/relationships/slideMaster" Target="/ppt/slideMasters/slideMaster1.xml" Id="R755567be5f6c44c3" /><Relationship Type="http://schemas.openxmlformats.org/officeDocument/2006/relationships/notesMaster" Target="/ppt/notesMasters/notesMaster1.xml" Id="R34def93e77d74ce5" /><Relationship Type="http://schemas.openxmlformats.org/officeDocument/2006/relationships/presProps" Target="/ppt/presProps.xml" Id="Ra912056caa334a9d" /><Relationship Type="http://schemas.openxmlformats.org/officeDocument/2006/relationships/tableStyles" Target="/ppt/tableStyles.xml" Id="R65bb353754e549a9" /><Relationship Type="http://schemas.openxmlformats.org/officeDocument/2006/relationships/slide" Target="/ppt/slides/slide1.xml" Id="Rcb35ac8eff304aee" /><Relationship Type="http://schemas.openxmlformats.org/officeDocument/2006/relationships/slide" Target="/ppt/slides/slide2.xml" Id="R22d55e677d9c4cdf" /><Relationship Type="http://schemas.openxmlformats.org/officeDocument/2006/relationships/slide" Target="/ppt/slides/slide3.xml" Id="Rb89e009063e74972" /><Relationship Type="http://schemas.openxmlformats.org/officeDocument/2006/relationships/slide" Target="/ppt/slides/slide4.xml" Id="R42d4820af30a4713" /><Relationship Type="http://schemas.openxmlformats.org/officeDocument/2006/relationships/slide" Target="/ppt/slides/slide5.xml" Id="R74a4136109854ed8" /><Relationship Type="http://schemas.openxmlformats.org/officeDocument/2006/relationships/slide" Target="/ppt/slides/slide6.xml" Id="R33b2906e5d76440b" /><Relationship Type="http://schemas.openxmlformats.org/officeDocument/2006/relationships/slide" Target="/ppt/slides/slide7.xml" Id="R4c4e4b172fa1452a" /><Relationship Type="http://schemas.openxmlformats.org/officeDocument/2006/relationships/slide" Target="/ppt/slides/slide8.xml" Id="R3b4114c2c1b448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740815636e47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c0c0d2bd9e4a6d" /><Relationship Type="http://schemas.openxmlformats.org/officeDocument/2006/relationships/notesMaster" Target="/ppt/notesMasters/notesMaster1.xml" Id="R3456ee629f4240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81f583c9ac4689" /><Relationship Type="http://schemas.openxmlformats.org/officeDocument/2006/relationships/notesMaster" Target="/ppt/notesMasters/notesMaster1.xml" Id="R54cd09f33f6e46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7bb6138d944b4a" /><Relationship Type="http://schemas.openxmlformats.org/officeDocument/2006/relationships/notesMaster" Target="/ppt/notesMasters/notesMaster1.xml" Id="R39483d6a87c34c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1561b7b4c1400c" /><Relationship Type="http://schemas.openxmlformats.org/officeDocument/2006/relationships/notesMaster" Target="/ppt/notesMasters/notesMaster1.xml" Id="Rc5d642ccbacc48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317a44eb964965" /><Relationship Type="http://schemas.openxmlformats.org/officeDocument/2006/relationships/notesMaster" Target="/ppt/notesMasters/notesMaster1.xml" Id="Rdaa688fad20547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70261dbf5f4a0b" /><Relationship Type="http://schemas.openxmlformats.org/officeDocument/2006/relationships/notesMaster" Target="/ppt/notesMasters/notesMaster1.xml" Id="R0306c63a8a2944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c4bacee6484525" /><Relationship Type="http://schemas.openxmlformats.org/officeDocument/2006/relationships/notesMaster" Target="/ppt/notesMasters/notesMaster1.xml" Id="R3b97fb1361d741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441816caea47fa" /><Relationship Type="http://schemas.openxmlformats.org/officeDocument/2006/relationships/notesMaster" Target="/ppt/notesMasters/notesMaster1.xml" Id="R6ffdc8440c8a40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an offline classifier for imagined left versus right fist movement. The central question is whether a model works for a person whose recordings it has never seen. I selected forty subjects before fitting: thirty for development and ten held out until the model was frozen.</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16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loader validates the run because the same annotation codes mean different movements in other runs. It extracts seconds one to four after each cue, references and filters each trial independently, and flags large amplitudes. Invalid events remain visible in the prediction output. Training and inference use the same preprocessing code.</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22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random trials, a later run from familiar people, and entirely unfamiliar people. These are different deployment questions. The final held-out score was 53.6%, with substantial variation across individuals. The interval resamples subjects, not trials. Differences between split strategies are descriptive, not a pure causal estimate of identity leakage.</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24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checked a majority predictor, a metadata-only model, one hundred within-person and run label permutations, and subject identification across runs. Identity accuracy was 95.7%. That shows the features contain persistent person or recording information, but does not tell us exactly how much left-right decoding relies on it. The shuffled-label reference also cannot rule out visual cues or artifacts.</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24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log spectral power with logistic regression against four regularized common spatial patterns with shrinkage LDA. The preset selection rule chose spectral. I chose these small models over a neural network to preserve time for evaluation and make the transforms understandable. More model capacity would not fix a misleading split or cue confounding.</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deliverable includes a trained model and a raw EDF command. It returns a row for every task cue, including quality flags or unavailable status. I verified that the command agrees with the evaluation predictions, and that changing annotation class codes without changing onsets leaves predictions unchanged.</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open-ended investigation compared central and occipital electrodes, scoring 54.4% and 53.9%. The visual target appears on the requested side, so cue and task are entangled. Regional predictability could reflect visual responses, volume conduction, or other signals. My weakest claim would be that the model decodes motor imagery alone; this protocol cannot establish that.</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 would separate cue direction from imagined hand, evaluate new recording days and devices, expand the cohort, and only then compare richer models under the same splits. The repository preserves the model, audit, predictions, and experiment log so every reported number can be checked.</a:t>
            </a:r>
          </a:p>
          <a:p xmlns:a="http://schemas.openxmlformats.org/drawingml/2006/main">
            <a:r>
              <a:t/>
            </a:r>
          </a:p>
          <a:p xmlns:a="http://schemas.openxmlformats.org/drawingml/2006/main">
            <a:r>
              <a:t>Sources: https://github.com/abdulm5/neurotech-imagery/blob/main/docs/report.md</a:t>
            </a:r>
          </a:p>
          <a:p xmlns:a="http://schemas.openxmlformats.org/drawingml/2006/main">
            <a:r>
              <a:t>https://physionet.org/content/eegmmidb/1.0.0/</a:t>
            </a:r>
          </a:p>
          <a:p xmlns:a="http://schemas.openxmlformats.org/drawingml/2006/main">
            <a:r>
              <a:t>Suggested speaking time: 14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1d9da91aab40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dd6822da94473e" /><Relationship Type="http://schemas.openxmlformats.org/officeDocument/2006/relationships/slideLayout" Target="/ppt/slideLayouts/slideLayout1.xml" Id="Reaba7e54eb544c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ba7e54eb544c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cd6b1292ee4e82" /><Relationship Type="http://schemas.openxmlformats.org/officeDocument/2006/relationships/notesSlide" Target="/ppt/notesSlides/notesSlide1.xml" Id="R190a822ee22544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367997f28e41d2" /><Relationship Type="http://schemas.openxmlformats.org/officeDocument/2006/relationships/notesSlide" Target="/ppt/notesSlides/notesSlide2.xml" Id="R396e2f0ba69245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81154d25654cde" /><Relationship Type="http://schemas.openxmlformats.org/officeDocument/2006/relationships/chart" Target="/ppt/slides/charts/chart1.xml" Id="R9f6c2689af474681" /><Relationship Type="http://schemas.openxmlformats.org/officeDocument/2006/relationships/chart" Target="/ppt/slides/charts/chart2.xml" Id="R2e332da8ef754b42" /><Relationship Type="http://schemas.openxmlformats.org/officeDocument/2006/relationships/notesSlide" Target="/ppt/notesSlides/notesSlide3.xml" Id="R07ffc963028a4c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5465984f4c47c3" /><Relationship Type="http://schemas.openxmlformats.org/officeDocument/2006/relationships/chart" Target="/ppt/slides/charts/chart3.xml" Id="R6426db8ad5384dad" /><Relationship Type="http://schemas.openxmlformats.org/officeDocument/2006/relationships/chart" Target="/ppt/slides/charts/chart4.xml" Id="R525044b41f6c40df" /><Relationship Type="http://schemas.openxmlformats.org/officeDocument/2006/relationships/notesSlide" Target="/ppt/notesSlides/notesSlide4.xml" Id="Rfa83ecf0f7d045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a8c2d389ef4cd6" /><Relationship Type="http://schemas.openxmlformats.org/officeDocument/2006/relationships/notesSlide" Target="/ppt/notesSlides/notesSlide5.xml" Id="Re4e339e725234f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5f389f822145d4" /><Relationship Type="http://schemas.openxmlformats.org/officeDocument/2006/relationships/notesSlide" Target="/ppt/notesSlides/notesSlide6.xml" Id="Re1d3c5750d3e47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62bc1fd2064518" /><Relationship Type="http://schemas.openxmlformats.org/officeDocument/2006/relationships/notesSlide" Target="/ppt/notesSlides/notesSlide7.xml" Id="R0b14df8e3a6848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856533f859468c" /><Relationship Type="http://schemas.openxmlformats.org/officeDocument/2006/relationships/notesSlide" Target="/ppt/notesSlides/notesSlide8.xml" Id="Rd622c9c451af43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172D36"/>
                </a:solidFill>
                <a:latin typeface="Helvetica Neue"/>
                <a:ea typeface="Helvetica Neue"/>
                <a:cs typeface="Helvetica Neue"/>
              </a:rPr>
              <a:t>Development split comparison</a:t>
            </a:r>
          </a:p>
        </c:rich>
      </c:tx>
      <c:overlay val="0"/>
      <c:txPr>
        <a:bodyPr xmlns:a="http://schemas.openxmlformats.org/drawingml/2006/main" anchorCtr="1"/>
        <a:lstStyle xmlns:a="http://schemas.openxmlformats.org/drawingml/2006/main"/>
        <a:p xmlns:a="http://schemas.openxmlformats.org/drawingml/2006/main">
          <a:pPr>
            <a:defRPr sz="1500">
              <a:solidFill>
                <a:srgbClr val="172D36"/>
              </a:solidFill>
              <a:latin typeface="Helvetica Neue"/>
              <a:ea typeface="Helvetica Neue"/>
              <a:cs typeface="Helvetica Neue"/>
            </a:defRPr>
          </a:pPr>
        </a:p>
      </c:txPr>
    </c:title>
    <c:plotArea>
      <c:barChart>
        <c:barDir val="col"/>
        <c:grouping val="clustered"/>
        <c:varyColors val="0"/>
        <c:ser>
          <c:idx val="0"/>
          <c:order val="0"/>
          <c:tx>
            <c:v>spectral</c:v>
          </c:tx>
          <c:spPr>
            <a:solidFill xmlns:a="http://schemas.openxmlformats.org/drawingml/2006/main">
              <a:srgbClr val="237A87"/>
            </a:solidFill>
          </c:spPr>
          <c:cat>
            <c:strRef>
              <c:f>'Chart Data'!$A$2:$A$4</c:f>
              <c:strCache>
                <c:ptCount val="3"/>
                <c:pt idx="0">
                  <c:v>Random trials</c:v>
                </c:pt>
                <c:pt idx="1">
                  <c:v>Later run</c:v>
                </c:pt>
                <c:pt idx="2">
                  <c:v>Unseen people</c:v>
                </c:pt>
              </c:strCache>
            </c:strRef>
          </c:cat>
          <c:val>
            <c:numRef>
              <c:f>'Chart Data'!$B$2:$B$4</c:f>
              <c:numCache>
                <c:formatCode>0%</c:formatCode>
                <c:ptCount val="3"/>
                <c:pt idx="0">
                  <c:v>0.51336821</c:v>
                </c:pt>
                <c:pt idx="1">
                  <c:v>0.57827381</c:v>
                </c:pt>
                <c:pt idx="2">
                  <c:v>0.53341176</c:v>
                </c:pt>
              </c:numCache>
            </c:numRef>
          </c:val>
        </c:ser>
        <c:ser>
          <c:idx val="1"/>
          <c:order val="1"/>
          <c:tx>
            <c:v>csp</c:v>
          </c:tx>
          <c:spPr>
            <a:solidFill xmlns:a="http://schemas.openxmlformats.org/drawingml/2006/main">
              <a:srgbClr val="D57939"/>
            </a:solidFill>
          </c:spPr>
          <c:cat>
            <c:strRef>
              <c:f>'Chart Data'!$C$2:$C$4</c:f>
              <c:strCache>
                <c:ptCount val="3"/>
                <c:pt idx="0">
                  <c:v>Random trials</c:v>
                </c:pt>
                <c:pt idx="1">
                  <c:v>Later run</c:v>
                </c:pt>
                <c:pt idx="2">
                  <c:v>Unseen people</c:v>
                </c:pt>
              </c:strCache>
            </c:strRef>
          </c:cat>
          <c:val>
            <c:numRef>
              <c:f>'Chart Data'!$D$2:$D$4</c:f>
              <c:numCache>
                <c:formatCode>0%</c:formatCode>
                <c:ptCount val="3"/>
                <c:pt idx="0">
                  <c:v>0.47324495</c:v>
                </c:pt>
                <c:pt idx="1">
                  <c:v>0.50644841</c:v>
                </c:pt>
                <c:pt idx="2">
                  <c:v>0.53262085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DE3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50112"/>
        <c:crossBetween val="between"/>
        <c:majorUnit val="0.25"/>
      </c:valAx>
      <c:spPr>
        <a:solidFill xmlns:a="http://schemas.openxmlformats.org/drawingml/2006/main">
          <a:srgbClr val="F8F9F6"/>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Helvetica Neue"/>
              <a:ea typeface="Helvetica Neue"/>
              <a:cs typeface="Helvetica Neue"/>
            </a:defRPr>
          </a:pPr>
        </a:p>
      </c:txPr>
    </c:legend>
    <c:plotVisOnly val="1"/>
  </c:chart>
  <c:spPr>
    <a:solidFill xmlns:a="http://schemas.openxmlformats.org/drawingml/2006/main">
      <a:srgbClr val="F8F9F6"/>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172D36"/>
                </a:solidFill>
                <a:latin typeface="Helvetica Neue"/>
                <a:ea typeface="Helvetica Neue"/>
                <a:cs typeface="Helvetica Neue"/>
              </a:rPr>
              <a:t>Final test by subject</a:t>
            </a:r>
          </a:p>
        </c:rich>
      </c:tx>
      <c:overlay val="0"/>
      <c:txPr>
        <a:bodyPr xmlns:a="http://schemas.openxmlformats.org/drawingml/2006/main" anchorCtr="1"/>
        <a:lstStyle xmlns:a="http://schemas.openxmlformats.org/drawingml/2006/main"/>
        <a:p xmlns:a="http://schemas.openxmlformats.org/drawingml/2006/main">
          <a:pPr>
            <a:defRPr sz="1500">
              <a:solidFill>
                <a:srgbClr val="172D36"/>
              </a:solidFill>
              <a:latin typeface="Helvetica Neue"/>
              <a:ea typeface="Helvetica Neue"/>
              <a:cs typeface="Helvetica Neue"/>
            </a:defRPr>
          </a:pPr>
        </a:p>
      </c:txPr>
    </c:title>
    <c:plotArea>
      <c:barChart>
        <c:barDir val="col"/>
        <c:grouping val="clustered"/>
        <c:varyColors val="0"/>
        <c:ser>
          <c:idx val="0"/>
          <c:order val="0"/>
          <c:tx>
            <c:v>Balanced accuracy</c:v>
          </c:tx>
          <c:spPr>
            <a:solidFill xmlns:a="http://schemas.openxmlformats.org/drawingml/2006/main">
              <a:srgbClr val="237A87"/>
            </a:solidFill>
          </c:spPr>
          <c:cat>
            <c:numRef>
              <c:f>'Chart Data'!$A$2:$A$11</c:f>
              <c:numCache>
                <c:formatCode>General</c:formatCode>
                <c:ptCount val="10"/>
                <c:pt idx="0">
                  <c:v>107</c:v>
                </c:pt>
                <c:pt idx="1">
                  <c:v>30</c:v>
                </c:pt>
                <c:pt idx="2">
                  <c:v>24</c:v>
                </c:pt>
                <c:pt idx="3">
                  <c:v>77</c:v>
                </c:pt>
                <c:pt idx="4">
                  <c:v>105</c:v>
                </c:pt>
                <c:pt idx="5">
                  <c:v>21</c:v>
                </c:pt>
                <c:pt idx="6">
                  <c:v>106</c:v>
                </c:pt>
                <c:pt idx="7">
                  <c:v>27</c:v>
                </c:pt>
                <c:pt idx="8">
                  <c:v>40</c:v>
                </c:pt>
                <c:pt idx="9">
                  <c:v>34</c:v>
                </c:pt>
              </c:numCache>
            </c:numRef>
          </c:cat>
          <c:val>
            <c:numRef>
              <c:f>'Chart Data'!$B$2:$B$11</c:f>
              <c:numCache>
                <c:formatCode>0%</c:formatCode>
                <c:ptCount val="10"/>
                <c:pt idx="0">
                  <c:v>0.4375</c:v>
                </c:pt>
                <c:pt idx="1">
                  <c:v>0.44940476</c:v>
                </c:pt>
                <c:pt idx="2">
                  <c:v>0.47826087</c:v>
                </c:pt>
                <c:pt idx="3">
                  <c:v>0.47916667</c:v>
                </c:pt>
                <c:pt idx="4">
                  <c:v>0.48418972</c:v>
                </c:pt>
                <c:pt idx="5">
                  <c:v>0.51488095</c:v>
                </c:pt>
                <c:pt idx="6">
                  <c:v>0.55357143</c:v>
                </c:pt>
                <c:pt idx="7">
                  <c:v>0.56225296</c:v>
                </c:pt>
                <c:pt idx="8">
                  <c:v>0.5922619</c:v>
                </c:pt>
                <c:pt idx="9">
                  <c:v>0.80654762</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DE3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50112"/>
        <c:crossBetween val="between"/>
        <c:majorUnit val="0.25"/>
      </c:valAx>
      <c:spPr>
        <a:solidFill xmlns:a="http://schemas.openxmlformats.org/drawingml/2006/main">
          <a:srgbClr val="F8F9F6"/>
        </a:solidFill>
      </c:spPr>
    </c:plotArea>
    <c:plotVisOnly val="1"/>
  </c:chart>
  <c:spPr>
    <a:solidFill xmlns:a="http://schemas.openxmlformats.org/drawingml/2006/main">
      <a:srgbClr val="F8F9F6"/>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172D36"/>
                </a:solidFill>
                <a:latin typeface="Helvetica Neue"/>
                <a:ea typeface="Helvetica Neue"/>
                <a:cs typeface="Helvetica Neue"/>
              </a:rPr>
              <a:t>Shuffled labels</a:t>
            </a:r>
          </a:p>
        </c:rich>
      </c:tx>
      <c:overlay val="0"/>
      <c:txPr>
        <a:bodyPr xmlns:a="http://schemas.openxmlformats.org/drawingml/2006/main" anchorCtr="1"/>
        <a:lstStyle xmlns:a="http://schemas.openxmlformats.org/drawingml/2006/main"/>
        <a:p xmlns:a="http://schemas.openxmlformats.org/drawingml/2006/main">
          <a:pPr>
            <a:defRPr sz="1500">
              <a:solidFill>
                <a:srgbClr val="172D36"/>
              </a:solidFill>
              <a:latin typeface="Helvetica Neue"/>
              <a:ea typeface="Helvetica Neue"/>
              <a:cs typeface="Helvetica Neue"/>
            </a:defRPr>
          </a:pPr>
        </a:p>
      </c:txPr>
    </c:title>
    <c:plotArea>
      <c:barChart>
        <c:barDir val="col"/>
        <c:grouping val="clustered"/>
        <c:varyColors val="0"/>
        <c:ser>
          <c:idx val="0"/>
          <c:order val="0"/>
          <c:tx>
            <c:v>Permutations</c:v>
          </c:tx>
          <c:spPr>
            <a:solidFill xmlns:a="http://schemas.openxmlformats.org/drawingml/2006/main">
              <a:srgbClr val="8CBEC4"/>
            </a:solidFill>
          </c:spPr>
          <c:cat>
            <c:numRef>
              <c:f>'Chart Data'!$A$2:$A$9</c:f>
              <c:numCache>
                <c:formatCode>General</c:formatCode>
                <c:ptCount val="8"/>
                <c:pt idx="0">
                  <c:v>0.475</c:v>
                </c:pt>
                <c:pt idx="1">
                  <c:v>0.483</c:v>
                </c:pt>
                <c:pt idx="2">
                  <c:v>0.492</c:v>
                </c:pt>
                <c:pt idx="3">
                  <c:v>0.500</c:v>
                </c:pt>
                <c:pt idx="4">
                  <c:v>0.509</c:v>
                </c:pt>
                <c:pt idx="5">
                  <c:v>0.518</c:v>
                </c:pt>
                <c:pt idx="6">
                  <c:v>0.526</c:v>
                </c:pt>
                <c:pt idx="7">
                  <c:v>0.535</c:v>
                </c:pt>
              </c:numCache>
            </c:numRef>
          </c:cat>
          <c:val>
            <c:numRef>
              <c:f>'Chart Data'!$B$2:$B$9</c:f>
              <c:numCache>
                <c:formatCode>General</c:formatCode>
                <c:ptCount val="8"/>
                <c:pt idx="0">
                  <c:v>8</c:v>
                </c:pt>
                <c:pt idx="1">
                  <c:v>10</c:v>
                </c:pt>
                <c:pt idx="2">
                  <c:v>26</c:v>
                </c:pt>
                <c:pt idx="3">
                  <c:v>24</c:v>
                </c:pt>
                <c:pt idx="4">
                  <c:v>16</c:v>
                </c:pt>
                <c:pt idx="5">
                  <c:v>12</c:v>
                </c:pt>
                <c:pt idx="6">
                  <c:v>3</c:v>
                </c:pt>
                <c:pt idx="7">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DE3E1"/>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8F9F6"/>
        </a:solidFill>
      </c:spPr>
    </c:plotArea>
    <c:plotVisOnly val="1"/>
  </c:chart>
  <c:spPr>
    <a:solidFill xmlns:a="http://schemas.openxmlformats.org/drawingml/2006/main">
      <a:srgbClr val="F8F9F6"/>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00">
                <a:solidFill>
                  <a:srgbClr val="172D36"/>
                </a:solidFill>
                <a:latin typeface="Helvetica Neue"/>
                <a:ea typeface="Helvetica Neue"/>
                <a:cs typeface="Helvetica Neue"/>
              </a:rPr>
              <a:t>Regional models</a:t>
            </a:r>
          </a:p>
        </c:rich>
      </c:tx>
      <c:overlay val="0"/>
      <c:txPr>
        <a:bodyPr xmlns:a="http://schemas.openxmlformats.org/drawingml/2006/main" anchorCtr="1"/>
        <a:lstStyle xmlns:a="http://schemas.openxmlformats.org/drawingml/2006/main"/>
        <a:p xmlns:a="http://schemas.openxmlformats.org/drawingml/2006/main">
          <a:pPr>
            <a:defRPr sz="1500">
              <a:solidFill>
                <a:srgbClr val="172D36"/>
              </a:solidFill>
              <a:latin typeface="Helvetica Neue"/>
              <a:ea typeface="Helvetica Neue"/>
              <a:cs typeface="Helvetica Neue"/>
            </a:defRPr>
          </a:pPr>
        </a:p>
      </c:txPr>
    </c:title>
    <c:plotArea>
      <c:barChart>
        <c:barDir val="col"/>
        <c:grouping val="clustered"/>
        <c:varyColors val="0"/>
        <c:ser>
          <c:idx val="0"/>
          <c:order val="0"/>
          <c:tx>
            <c:v>Balanced accuracy</c:v>
          </c:tx>
          <c:spPr>
            <a:solidFill xmlns:a="http://schemas.openxmlformats.org/drawingml/2006/main">
              <a:srgbClr val="237A87"/>
            </a:solidFill>
          </c:spPr>
          <c:cat>
            <c:strRef>
              <c:f>'Chart Data'!$A$2:$A$3</c:f>
              <c:strCache>
                <c:ptCount val="2"/>
                <c:pt idx="0">
                  <c:v>Central</c:v>
                </c:pt>
                <c:pt idx="1">
                  <c:v>Occipital</c:v>
                </c:pt>
              </c:strCache>
            </c:strRef>
          </c:cat>
          <c:val>
            <c:numRef>
              <c:f>'Chart Data'!$B$2:$B$3</c:f>
              <c:numCache>
                <c:formatCode>0%</c:formatCode>
                <c:ptCount val="2"/>
                <c:pt idx="0">
                  <c:v>0.54445046</c:v>
                </c:pt>
                <c:pt idx="1">
                  <c:v>0.5390907</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DE3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Helvetica Neue"/>
                <a:ea typeface="Helvetica Neue"/>
                <a:cs typeface="Helvetica Neue"/>
              </a:defRPr>
            </a:pPr>
          </a:p>
        </c:txPr>
        <c:crossAx val="48650112"/>
        <c:crossBetween val="between"/>
        <c:majorUnit val="0.25"/>
      </c:valAx>
      <c:spPr>
        <a:solidFill xmlns:a="http://schemas.openxmlformats.org/drawingml/2006/main">
          <a:srgbClr val="F8F9F6"/>
        </a:solidFill>
      </c:spPr>
    </c:plotArea>
    <c:plotVisOnly val="1"/>
  </c:chart>
  <c:spPr>
    <a:solidFill xmlns:a="http://schemas.openxmlformats.org/drawingml/2006/main">
      <a:srgbClr val="F8F9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D20695-2B2C-42ED-8A9A-1CF4B732A3D1}"/>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2E973848-7559-4BF6-8831-04CA2ECBE214}"/>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Can EEG predictions travel to a new person?</a:t>
            </a:r>
          </a:p>
        </p:txBody>
      </p:sp>
      <p:sp>
        <p:nvSpPr>
          <p:cNvPr id="3" name="">
            <a:extLst xmlns:a="http://schemas.openxmlformats.org/drawingml/2006/main">
              <a:ext uri="{FF2B5EF4-FFF2-40B4-BE49-F238E27FC236}">
                <a16:creationId xmlns:a16="http://schemas.microsoft.com/office/drawing/2014/main" id="{EB364C70-3A2E-4E71-B1C4-3BE400943468}"/>
              </a:ext>
            </a:extLst>
          </p:cNvPr>
          <p:cNvSpPr>
            <a:spLocks xmlns:a="http://schemas.openxmlformats.org/drawingml/2006/main" noGrp="1"/>
          </p:cNvSpPr>
          <p:nvPr/>
        </p:nvSpPr>
        <p:spPr>
          <a:xfrm xmlns:a="http://schemas.openxmlformats.org/drawingml/2006/main">
            <a:off x="762000" y="1857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Left versus right imagined fist movement · PhysioNet EEGMMIDB</a:t>
            </a:r>
          </a:p>
        </p:txBody>
      </p:sp>
      <p:sp>
        <p:nvSpPr>
          <p:cNvPr id="4" name="">
            <a:extLst xmlns:a="http://schemas.openxmlformats.org/drawingml/2006/main">
              <a:ext uri="{FF2B5EF4-FFF2-40B4-BE49-F238E27FC236}">
                <a16:creationId xmlns:a16="http://schemas.microsoft.com/office/drawing/2014/main" id="{8F6931E9-2C02-4AAC-BFC5-64E5376AD606}"/>
              </a:ext>
            </a:extLst>
          </p:cNvPr>
          <p:cNvSpPr>
            <a:spLocks xmlns:a="http://schemas.openxmlformats.org/drawingml/2006/main" noGrp="1"/>
          </p:cNvSpPr>
          <p:nvPr/>
        </p:nvSpPr>
        <p:spPr>
          <a:xfrm xmlns:a="http://schemas.openxmlformats.org/drawingml/2006/main">
            <a:off x="762000" y="23907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40 fixed subjects: 30 for development, 10 held out until the model was frozen.</a:t>
            </a:r>
          </a:p>
        </p:txBody>
      </p:sp>
      <p:sp>
        <p:nvSpPr>
          <p:cNvPr id="5" name="">
            <a:extLst xmlns:a="http://schemas.openxmlformats.org/drawingml/2006/main">
              <a:ext uri="{FF2B5EF4-FFF2-40B4-BE49-F238E27FC236}">
                <a16:creationId xmlns:a16="http://schemas.microsoft.com/office/drawing/2014/main" id="{8179C169-AE30-4D99-8C2D-B195F42654D2}"/>
              </a:ext>
            </a:extLst>
          </p:cNvPr>
          <p:cNvSpPr>
            <a:spLocks xmlns:a="http://schemas.openxmlformats.org/drawingml/2006/main" noGrp="1"/>
          </p:cNvSpPr>
          <p:nvPr/>
        </p:nvSpPr>
        <p:spPr>
          <a:xfrm xmlns:a="http://schemas.openxmlformats.org/drawingml/2006/main">
            <a:off x="762000" y="2924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Final result: 53.6% mean subject balanced accuracy.</a:t>
            </a:r>
          </a:p>
        </p:txBody>
      </p:sp>
    </p:spTree>
    <p:extLst>
      <p:ext uri="{BB962C8B-B14F-4D97-AF65-F5344CB8AC3E}">
        <p14:creationId xmlns:p14="http://schemas.microsoft.com/office/powerpoint/2010/main" val="318338494"/>
      </p:ext>
    </p:extLst>
  </p:cSld>
</p:sld>
</file>

<file path=ppt/slides/slide2.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B051DB-3E3C-4297-B3C8-4D49D6FC0103}"/>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2D718F30-3C1C-4DEE-9006-A1AE1E8AAAEE}"/>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One shared pipeline, from raw EDF to prediction</a:t>
            </a:r>
          </a:p>
        </p:txBody>
      </p:sp>
      <p:sp>
        <p:nvSpPr>
          <p:cNvPr id="3" name="">
            <a:extLst xmlns:a="http://schemas.openxmlformats.org/drawingml/2006/main">
              <a:ext uri="{FF2B5EF4-FFF2-40B4-BE49-F238E27FC236}">
                <a16:creationId xmlns:a16="http://schemas.microsoft.com/office/drawing/2014/main" id="{937A54A4-7018-4B68-888D-3E568C32FB7B}"/>
              </a:ext>
            </a:extLst>
          </p:cNvPr>
          <p:cNvSpPr>
            <a:spLocks xmlns:a="http://schemas.openxmlformats.org/drawingml/2006/main" noGrp="1"/>
          </p:cNvSpPr>
          <p:nvPr/>
        </p:nvSpPr>
        <p:spPr>
          <a:xfrm xmlns:a="http://schemas.openxmlformats.org/drawingml/2006/main">
            <a:off x="762000" y="1857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Only imagery runs 4, 8, 12; T1 = left, T2 = right.</a:t>
            </a:r>
          </a:p>
        </p:txBody>
      </p:sp>
      <p:sp>
        <p:nvSpPr>
          <p:cNvPr id="4" name="">
            <a:extLst xmlns:a="http://schemas.openxmlformats.org/drawingml/2006/main">
              <a:ext uri="{FF2B5EF4-FFF2-40B4-BE49-F238E27FC236}">
                <a16:creationId xmlns:a16="http://schemas.microsoft.com/office/drawing/2014/main" id="{9103C3BF-CEE1-43CE-82D8-7C8A32CA5CB7}"/>
              </a:ext>
            </a:extLst>
          </p:cNvPr>
          <p:cNvSpPr>
            <a:spLocks xmlns:a="http://schemas.openxmlformats.org/drawingml/2006/main" noGrp="1"/>
          </p:cNvSpPr>
          <p:nvPr/>
        </p:nvSpPr>
        <p:spPr>
          <a:xfrm xmlns:a="http://schemas.openxmlformats.org/drawingml/2006/main">
            <a:off x="762000" y="23907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Use seconds 1–4 after each cue; normalize channel order and average-reference.</a:t>
            </a:r>
          </a:p>
        </p:txBody>
      </p:sp>
      <p:sp>
        <p:nvSpPr>
          <p:cNvPr id="5" name="">
            <a:extLst xmlns:a="http://schemas.openxmlformats.org/drawingml/2006/main">
              <a:ext uri="{FF2B5EF4-FFF2-40B4-BE49-F238E27FC236}">
                <a16:creationId xmlns:a16="http://schemas.microsoft.com/office/drawing/2014/main" id="{1B2802A1-2AE4-40A4-9E72-D3B1CE62C7FF}"/>
              </a:ext>
            </a:extLst>
          </p:cNvPr>
          <p:cNvSpPr>
            <a:spLocks xmlns:a="http://schemas.openxmlformats.org/drawingml/2006/main" noGrp="1"/>
          </p:cNvSpPr>
          <p:nvPr/>
        </p:nvSpPr>
        <p:spPr>
          <a:xfrm xmlns:a="http://schemas.openxmlformats.org/drawingml/2006/main">
            <a:off x="762000" y="2924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Resample each isolated trial to 160 Hz; apply an 8–30 Hz bandpass.</a:t>
            </a:r>
          </a:p>
        </p:txBody>
      </p:sp>
      <p:sp>
        <p:nvSpPr>
          <p:cNvPr id="6" name="">
            <a:extLst xmlns:a="http://schemas.openxmlformats.org/drawingml/2006/main">
              <a:ext uri="{FF2B5EF4-FFF2-40B4-BE49-F238E27FC236}">
                <a16:creationId xmlns:a16="http://schemas.microsoft.com/office/drawing/2014/main" id="{197C7209-3A3D-40BC-992F-C1B2A674B680}"/>
              </a:ext>
            </a:extLst>
          </p:cNvPr>
          <p:cNvSpPr>
            <a:spLocks xmlns:a="http://schemas.openxmlformats.org/drawingml/2006/main" noGrp="1"/>
          </p:cNvSpPr>
          <p:nvPr/>
        </p:nvSpPr>
        <p:spPr>
          <a:xfrm xmlns:a="http://schemas.openxmlformats.org/drawingml/2006/main">
            <a:off x="762000" y="34575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Flag &gt;200 µV peak-to-peak; keep usable trials in the main score.</a:t>
            </a:r>
          </a:p>
        </p:txBody>
      </p:sp>
      <p:sp>
        <p:nvSpPr>
          <p:cNvPr id="7" name="">
            <a:extLst xmlns:a="http://schemas.openxmlformats.org/drawingml/2006/main">
              <a:ext uri="{FF2B5EF4-FFF2-40B4-BE49-F238E27FC236}">
                <a16:creationId xmlns:a16="http://schemas.microsoft.com/office/drawing/2014/main" id="{FF08367A-D1B5-42BF-A9E7-FE72A7415847}"/>
              </a:ext>
            </a:extLst>
          </p:cNvPr>
          <p:cNvSpPr>
            <a:spLocks xmlns:a="http://schemas.openxmlformats.org/drawingml/2006/main" noGrp="1"/>
          </p:cNvSpPr>
          <p:nvPr/>
        </p:nvSpPr>
        <p:spPr>
          <a:xfrm xmlns:a="http://schemas.openxmlformats.org/drawingml/2006/main">
            <a:off x="762000" y="39909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Annotation class codes never enter the classifier.</a:t>
            </a:r>
          </a:p>
        </p:txBody>
      </p:sp>
      <p:sp>
        <p:nvSpPr>
          <p:cNvPr id="8" name="">
            <a:extLst xmlns:a="http://schemas.openxmlformats.org/drawingml/2006/main">
              <a:ext uri="{FF2B5EF4-FFF2-40B4-BE49-F238E27FC236}">
                <a16:creationId xmlns:a16="http://schemas.microsoft.com/office/drawing/2014/main" id="{9E1D7A17-3CA1-44BD-9A43-C2A7F0DD7996}"/>
              </a:ext>
            </a:extLst>
          </p:cNvPr>
          <p:cNvSpPr>
            <a:spLocks xmlns:a="http://schemas.openxmlformats.org/drawingml/2006/main" noGrp="1"/>
          </p:cNvSpPr>
          <p:nvPr/>
        </p:nvSpPr>
        <p:spPr>
          <a:xfrm xmlns:a="http://schemas.openxmlformats.org/drawingml/2006/main">
            <a:off x="762000" y="4524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Audit finding: S100 reports 128 Hz and longer task annotations.</a:t>
            </a:r>
          </a:p>
        </p:txBody>
      </p:sp>
    </p:spTree>
    <p:extLst>
      <p:ext uri="{BB962C8B-B14F-4D97-AF65-F5344CB8AC3E}">
        <p14:creationId xmlns:p14="http://schemas.microsoft.com/office/powerpoint/2010/main" val="1202846400"/>
      </p:ext>
    </p:extLst>
  </p:cSld>
</p:sld>
</file>

<file path=ppt/slides/slide3.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A5AF91-F154-471A-8FAB-F4ECE90946E1}"/>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D24FCB79-B301-45ED-A9C0-764A92512ACF}"/>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The split changes what the score means</a:t>
            </a:r>
          </a:p>
        </p:txBody>
      </p:sp>
      <p:graphicFrame>
        <p:nvGraphicFramePr>
          <p:cNvPr id="10" name="Chart"/>
          <p:cNvGraphicFramePr/>
          <p:nvPr/>
        </p:nvGraphicFramePr>
        <p:xfrm>
          <a:off xmlns:a="http://schemas.openxmlformats.org/drawingml/2006/main" x="619125" y="1619250"/>
          <a:ext xmlns:a="http://schemas.openxmlformats.org/drawingml/2006/main" cx="5286375" cy="3429000"/>
        </p:xfrm>
        <a:graphic xmlns:a="http://schemas.openxmlformats.org/drawingml/2006/main">
          <a:graphicData uri="http://schemas.openxmlformats.org/drawingml/2006/chart">
            <c:chart xmlns:r="http://schemas.openxmlformats.org/officeDocument/2006/relationships" xmlns:c="http://schemas.openxmlformats.org/drawingml/2006/chart" r:id="R9f6c2689af474681"/>
          </a:graphicData>
        </a:graphic>
      </p:graphicFrame>
      <p:graphicFrame>
        <p:nvGraphicFramePr>
          <p:cNvPr id="11" name="Chart"/>
          <p:cNvGraphicFramePr/>
          <p:nvPr/>
        </p:nvGraphicFramePr>
        <p:xfrm>
          <a:off xmlns:a="http://schemas.openxmlformats.org/drawingml/2006/main" x="6191250" y="1619250"/>
          <a:ext xmlns:a="http://schemas.openxmlformats.org/drawingml/2006/main" cx="5286375" cy="3429000"/>
        </p:xfrm>
        <a:graphic xmlns:a="http://schemas.openxmlformats.org/drawingml/2006/main">
          <a:graphicData uri="http://schemas.openxmlformats.org/drawingml/2006/chart">
            <c:chart xmlns:r="http://schemas.openxmlformats.org/officeDocument/2006/relationships" xmlns:c="http://schemas.openxmlformats.org/drawingml/2006/chart" r:id="R2e332da8ef754b42"/>
          </a:graphicData>
        </a:graphic>
      </p:graphicFrame>
      <p:sp>
        <p:nvSpPr>
          <p:cNvPr id="5" name="">
            <a:extLst xmlns:a="http://schemas.openxmlformats.org/drawingml/2006/main">
              <a:ext uri="{FF2B5EF4-FFF2-40B4-BE49-F238E27FC236}">
                <a16:creationId xmlns:a16="http://schemas.microsoft.com/office/drawing/2014/main" id="{6FD35D9F-AD4A-48AB-AE74-53C593047B33}"/>
              </a:ext>
            </a:extLst>
          </p:cNvPr>
          <p:cNvSpPr>
            <a:spLocks xmlns:a="http://schemas.openxmlformats.org/drawingml/2006/main" noGrp="1"/>
          </p:cNvSpPr>
          <p:nvPr/>
        </p:nvSpPr>
        <p:spPr>
          <a:xfrm xmlns:a="http://schemas.openxmlformats.org/drawingml/2006/main">
            <a:off x="714375" y="509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53B44"/>
                </a:solidFill>
                <a:latin typeface="Helvetica Neue"/>
                <a:ea typeface="Helvetica Neue"/>
                <a:cs typeface="Helvetica Neue"/>
              </a:defRPr>
            </a:pPr>
            <a:r>
              <a:rPr sz="1500" b="0">
                <a:solidFill>
                  <a:srgbClr val="253B44"/>
                </a:solidFill>
                <a:latin typeface="Helvetica Neue"/>
                <a:ea typeface="Helvetica Neue"/>
                <a:cs typeface="Helvetica Neue"/>
              </a:rPr>
              <a:t>Mean subject balanced accuracy. Chance is 50%.</a:t>
            </a:r>
          </a:p>
        </p:txBody>
      </p:sp>
      <p:sp>
        <p:nvSpPr>
          <p:cNvPr id="6" name="">
            <a:extLst xmlns:a="http://schemas.openxmlformats.org/drawingml/2006/main">
              <a:ext uri="{FF2B5EF4-FFF2-40B4-BE49-F238E27FC236}">
                <a16:creationId xmlns:a16="http://schemas.microsoft.com/office/drawing/2014/main" id="{72D3D869-7EE9-43A6-AA32-BF499A5E746D}"/>
              </a:ext>
            </a:extLst>
          </p:cNvPr>
          <p:cNvSpPr>
            <a:spLocks xmlns:a="http://schemas.openxmlformats.org/drawingml/2006/main" noGrp="1"/>
          </p:cNvSpPr>
          <p:nvPr/>
        </p:nvSpPr>
        <p:spPr>
          <a:xfrm xmlns:a="http://schemas.openxmlformats.org/drawingml/2006/main">
            <a:off x="762000" y="55245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53B44"/>
                </a:solidFill>
                <a:latin typeface="Helvetica Neue"/>
                <a:ea typeface="Helvetica Neue"/>
                <a:cs typeface="Helvetica Neue"/>
              </a:defRPr>
            </a:pPr>
            <a:r>
              <a:rPr sz="1725" b="0">
                <a:solidFill>
                  <a:srgbClr val="253B44"/>
                </a:solidFill>
                <a:latin typeface="Helvetica Neue"/>
                <a:ea typeface="Helvetica Neue"/>
                <a:cs typeface="Helvetica Neue"/>
              </a:rPr>
              <a:t>Held-out mean: 53.6%; subject-bootstrap 95% interval: 48.3%–60.2%.</a:t>
            </a:r>
          </a:p>
        </p:txBody>
      </p:sp>
      <p:sp>
        <p:nvSpPr>
          <p:cNvPr id="7" name="">
            <a:extLst xmlns:a="http://schemas.openxmlformats.org/drawingml/2006/main">
              <a:ext uri="{FF2B5EF4-FFF2-40B4-BE49-F238E27FC236}">
                <a16:creationId xmlns:a16="http://schemas.microsoft.com/office/drawing/2014/main" id="{B7EE30EA-EB2E-4E09-B517-4B65F67BE0B2}"/>
              </a:ext>
            </a:extLst>
          </p:cNvPr>
          <p:cNvSpPr>
            <a:spLocks xmlns:a="http://schemas.openxmlformats.org/drawingml/2006/main" noGrp="1"/>
          </p:cNvSpPr>
          <p:nvPr/>
        </p:nvSpPr>
        <p:spPr>
          <a:xfrm xmlns:a="http://schemas.openxmlformats.org/drawingml/2006/main">
            <a:off x="762000" y="60007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53B44"/>
                </a:solidFill>
                <a:latin typeface="Helvetica Neue"/>
                <a:ea typeface="Helvetica Neue"/>
                <a:cs typeface="Helvetica Neue"/>
              </a:defRPr>
            </a:pPr>
            <a:r>
              <a:rPr sz="1725" b="0">
                <a:solidFill>
                  <a:srgbClr val="253B44"/>
                </a:solidFill>
                <a:latin typeface="Helvetica Neue"/>
                <a:ea typeface="Helvetica Neue"/>
                <a:cs typeface="Helvetica Neue"/>
              </a:rPr>
              <a:t>The interval includes 50%; reliable above-chance generalization is not established.</a:t>
            </a:r>
          </a:p>
        </p:txBody>
      </p:sp>
    </p:spTree>
    <p:extLst>
      <p:ext uri="{BB962C8B-B14F-4D97-AF65-F5344CB8AC3E}">
        <p14:creationId xmlns:p14="http://schemas.microsoft.com/office/powerpoint/2010/main" val="368339585"/>
      </p:ext>
    </p:extLst>
  </p:cSld>
</p:sld>
</file>

<file path=ppt/slides/slide4.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FEE87E-5D65-497E-8980-14C714DA0184}"/>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E039503D-F391-43C8-A74C-DC29ABE8F1D5}"/>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What else could explain the predictions?</a:t>
            </a:r>
          </a:p>
        </p:txBody>
      </p:sp>
      <p:graphicFrame>
        <p:nvGraphicFramePr>
          <p:cNvPr id="13" name="Chart"/>
          <p:cNvGraphicFramePr/>
          <p:nvPr/>
        </p:nvGraphicFramePr>
        <p:xfrm>
          <a:off xmlns:a="http://schemas.openxmlformats.org/drawingml/2006/main" x="619125" y="1571625"/>
          <a:ext xmlns:a="http://schemas.openxmlformats.org/drawingml/2006/main" cx="3333750" cy="3000375"/>
        </p:xfrm>
        <a:graphic xmlns:a="http://schemas.openxmlformats.org/drawingml/2006/main">
          <a:graphicData uri="http://schemas.openxmlformats.org/drawingml/2006/chart">
            <c:chart xmlns:r="http://schemas.openxmlformats.org/officeDocument/2006/relationships" xmlns:c="http://schemas.openxmlformats.org/drawingml/2006/chart" r:id="R6426db8ad5384dad"/>
          </a:graphicData>
        </a:graphic>
      </p:graphicFrame>
      <p:sp>
        <p:nvSpPr>
          <p:cNvPr id="4" name="">
            <a:extLst xmlns:a="http://schemas.openxmlformats.org/drawingml/2006/main">
              <a:ext uri="{FF2B5EF4-FFF2-40B4-BE49-F238E27FC236}">
                <a16:creationId xmlns:a16="http://schemas.microsoft.com/office/drawing/2014/main" id="{8C3FF3C6-ADC1-494F-8880-AB63E9D27511}"/>
              </a:ext>
            </a:extLst>
          </p:cNvPr>
          <p:cNvSpPr>
            <a:spLocks xmlns:a="http://schemas.openxmlformats.org/drawingml/2006/main" noGrp="1"/>
          </p:cNvSpPr>
          <p:nvPr/>
        </p:nvSpPr>
        <p:spPr>
          <a:xfrm xmlns:a="http://schemas.openxmlformats.org/drawingml/2006/main">
            <a:off x="762000" y="46291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53B44"/>
                </a:solidFill>
                <a:latin typeface="Helvetica Neue"/>
                <a:ea typeface="Helvetica Neue"/>
                <a:cs typeface="Helvetica Neue"/>
              </a:defRPr>
            </a:pPr>
            <a:r>
              <a:rPr sz="1500" b="0">
                <a:solidFill>
                  <a:srgbClr val="253B44"/>
                </a:solidFill>
                <a:latin typeface="Helvetica Neue"/>
                <a:ea typeface="Helvetica Neue"/>
                <a:cs typeface="Helvetica Neue"/>
              </a:rPr>
              <a:t>Observed: 53.3%</a:t>
            </a:r>
          </a:p>
        </p:txBody>
      </p:sp>
      <p:graphicFrame>
        <p:nvGraphicFramePr>
          <p:cNvPr id="15" name="Chart"/>
          <p:cNvGraphicFramePr/>
          <p:nvPr/>
        </p:nvGraphicFramePr>
        <p:xfrm>
          <a:off xmlns:a="http://schemas.openxmlformats.org/drawingml/2006/main" x="4286250" y="1571625"/>
          <a:ext xmlns:a="http://schemas.openxmlformats.org/drawingml/2006/main" cx="3333750" cy="3000375"/>
        </p:xfrm>
        <a:graphic xmlns:a="http://schemas.openxmlformats.org/drawingml/2006/main">
          <a:graphicData uri="http://schemas.openxmlformats.org/drawingml/2006/chart">
            <c:chart xmlns:r="http://schemas.openxmlformats.org/officeDocument/2006/relationships" xmlns:c="http://schemas.openxmlformats.org/drawingml/2006/chart" r:id="R525044b41f6c40df"/>
          </a:graphicData>
        </a:graphic>
      </p:graphicFrame>
      <p:sp>
        <p:nvSpPr>
          <p:cNvPr id="6" name="">
            <a:extLst xmlns:a="http://schemas.openxmlformats.org/drawingml/2006/main">
              <a:ext uri="{FF2B5EF4-FFF2-40B4-BE49-F238E27FC236}">
                <a16:creationId xmlns:a16="http://schemas.microsoft.com/office/drawing/2014/main" id="{9E0D13BB-1A26-4D1B-9C4F-AD1BCACDBAAD}"/>
              </a:ext>
            </a:extLst>
          </p:cNvPr>
          <p:cNvSpPr>
            <a:spLocks xmlns:a="http://schemas.openxmlformats.org/drawingml/2006/main" noGrp="1"/>
          </p:cNvSpPr>
          <p:nvPr/>
        </p:nvSpPr>
        <p:spPr>
          <a:xfrm xmlns:a="http://schemas.openxmlformats.org/drawingml/2006/main">
            <a:off x="4381500" y="46291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53B44"/>
                </a:solidFill>
                <a:latin typeface="Helvetica Neue"/>
                <a:ea typeface="Helvetica Neue"/>
                <a:cs typeface="Helvetica Neue"/>
              </a:defRPr>
            </a:pPr>
            <a:r>
              <a:rPr sz="1350" b="0">
                <a:solidFill>
                  <a:srgbClr val="253B44"/>
                </a:solidFill>
                <a:latin typeface="Helvetica Neue"/>
                <a:ea typeface="Helvetica Neue"/>
                <a:cs typeface="Helvetica Neue"/>
              </a:rPr>
              <a:t>Balanced accuracy. Chance: 50%.</a:t>
            </a:r>
          </a:p>
        </p:txBody>
      </p:sp>
      <p:sp>
        <p:nvSpPr>
          <p:cNvPr id="7" name="">
            <a:extLst xmlns:a="http://schemas.openxmlformats.org/drawingml/2006/main">
              <a:ext uri="{FF2B5EF4-FFF2-40B4-BE49-F238E27FC236}">
                <a16:creationId xmlns:a16="http://schemas.microsoft.com/office/drawing/2014/main" id="{8E4C14AD-791B-4584-93C4-C5C79BF22BA1}"/>
              </a:ext>
            </a:extLst>
          </p:cNvPr>
          <p:cNvSpPr>
            <a:spLocks xmlns:a="http://schemas.openxmlformats.org/drawingml/2006/main" noGrp="1"/>
          </p:cNvSpPr>
          <p:nvPr/>
        </p:nvSpPr>
        <p:spPr>
          <a:xfrm xmlns:a="http://schemas.openxmlformats.org/drawingml/2006/main">
            <a:off x="8096250" y="166687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53B44"/>
                </a:solidFill>
                <a:latin typeface="Helvetica Neue"/>
                <a:ea typeface="Helvetica Neue"/>
                <a:cs typeface="Helvetica Neue"/>
              </a:defRPr>
            </a:pPr>
            <a:r>
              <a:rPr sz="1500" b="1">
                <a:solidFill>
                  <a:srgbClr val="253B44"/>
                </a:solidFill>
                <a:latin typeface="Helvetica Neue"/>
                <a:ea typeface="Helvetica Neue"/>
                <a:cs typeface="Helvetica Neue"/>
              </a:rPr>
              <a:t>Held-out confusion matrix</a:t>
            </a:r>
          </a:p>
        </p:txBody>
      </p:sp>
      <p:graphicFrame>
        <p:nvGraphicFramePr>
          <p:cNvPr id="18" name=""/>
          <p:cNvGraphicFramePr/>
          <p:nvPr/>
        </p:nvGraphicFramePr>
        <p:xfrm>
          <a:off xmlns:a="http://schemas.openxmlformats.org/drawingml/2006/main" x="8096250" y="2143125"/>
          <a:ext xmlns:a="http://schemas.openxmlformats.org/drawingml/2006/main" cx="3333750" cy="2095500"/>
        </p:xfrm>
        <a:graphic xmlns:a="http://schemas.openxmlformats.org/drawingml/2006/main">
          <a:graphicData uri="http://schemas.openxmlformats.org/drawingml/2006/table">
            <a:tbl>
              <a:tblPr/>
              <a:tblGrid>
                <a:gridCol w="1200150"/>
                <a:gridCol w="1066800"/>
                <a:gridCol w="1066800"/>
              </a:tblGrid>
              <a:tr h="698500">
                <a:tc>
                  <a:txBody>
                    <a:bodyPr/>
                    <a:lstStyle/>
                    <a:p>
                      <a:r>
                        <a:rPr sz="1500" b="1">
                          <a:solidFill>
                            <a:srgbClr val="FFFFFF"/>
                          </a:solidFill>
                          <a:latin typeface="Helvetica Neue"/>
                          <a:ea typeface="Helvetica Neue"/>
                          <a:cs typeface="Helvetica Neue"/>
                        </a:rPr>
                        <a:t>Truth / prediction</a:t>
                      </a:r>
                    </a:p>
                  </a:txBody>
                  <a:tcPr marL="91440" marR="91440" marT="45720" marB="45720">
                    <a:solidFill>
                      <a:srgbClr val="237A87"/>
                    </a:solidFill>
                  </a:tcPr>
                </a:tc>
                <a:tc>
                  <a:txBody>
                    <a:bodyPr/>
                    <a:lstStyle/>
                    <a:p>
                      <a:r>
                        <a:rPr sz="1500" b="1">
                          <a:solidFill>
                            <a:srgbClr val="FFFFFF"/>
                          </a:solidFill>
                          <a:latin typeface="Helvetica Neue"/>
                          <a:ea typeface="Helvetica Neue"/>
                          <a:cs typeface="Helvetica Neue"/>
                        </a:rPr>
                        <a:t>Left</a:t>
                      </a:r>
                    </a:p>
                  </a:txBody>
                  <a:tcPr marL="91440" marR="91440" marT="45720" marB="45720">
                    <a:solidFill>
                      <a:srgbClr val="237A87"/>
                    </a:solidFill>
                  </a:tcPr>
                </a:tc>
                <a:tc>
                  <a:txBody>
                    <a:bodyPr/>
                    <a:lstStyle/>
                    <a:p>
                      <a:r>
                        <a:rPr sz="1500" b="1">
                          <a:solidFill>
                            <a:srgbClr val="FFFFFF"/>
                          </a:solidFill>
                          <a:latin typeface="Helvetica Neue"/>
                          <a:ea typeface="Helvetica Neue"/>
                          <a:cs typeface="Helvetica Neue"/>
                        </a:rPr>
                        <a:t>Right</a:t>
                      </a:r>
                    </a:p>
                  </a:txBody>
                  <a:tcPr marL="91440" marR="91440" marT="45720" marB="45720">
                    <a:solidFill>
                      <a:srgbClr val="237A87"/>
                    </a:solidFill>
                  </a:tcPr>
                </a:tc>
              </a:tr>
              <a:tr h="698500">
                <a:tc>
                  <a:txBody>
                    <a:bodyPr/>
                    <a:lstStyle/>
                    <a:p>
                      <a:r>
                        <a:rPr sz="1500" b="0">
                          <a:solidFill>
                            <a:srgbClr val="172D36"/>
                          </a:solidFill>
                          <a:latin typeface="Helvetica Neue"/>
                          <a:ea typeface="Helvetica Neue"/>
                          <a:cs typeface="Helvetica Neue"/>
                        </a:rPr>
                        <a:t>Left</a:t>
                      </a:r>
                    </a:p>
                  </a:txBody>
                  <a:tcPr marL="91440" marR="91440" marT="45720" marB="45720">
                    <a:solidFill>
                      <a:srgbClr val="F1F5F3"/>
                    </a:solidFill>
                  </a:tcPr>
                </a:tc>
                <a:tc>
                  <a:txBody>
                    <a:bodyPr/>
                    <a:lstStyle/>
                    <a:p>
                      <a:r>
                        <a:rPr sz="1500" b="0">
                          <a:solidFill>
                            <a:srgbClr val="172D36"/>
                          </a:solidFill>
                          <a:latin typeface="Helvetica Neue"/>
                          <a:ea typeface="Helvetica Neue"/>
                          <a:cs typeface="Helvetica Neue"/>
                        </a:rPr>
                        <a:t>90</a:t>
                      </a:r>
                    </a:p>
                  </a:txBody>
                  <a:tcPr marL="91440" marR="91440" marT="45720" marB="45720">
                    <a:solidFill>
                      <a:srgbClr val="F1F5F3"/>
                    </a:solidFill>
                  </a:tcPr>
                </a:tc>
                <a:tc>
                  <a:txBody>
                    <a:bodyPr/>
                    <a:lstStyle/>
                    <a:p>
                      <a:r>
                        <a:rPr sz="1500" b="0">
                          <a:solidFill>
                            <a:srgbClr val="172D36"/>
                          </a:solidFill>
                          <a:latin typeface="Helvetica Neue"/>
                          <a:ea typeface="Helvetica Neue"/>
                          <a:cs typeface="Helvetica Neue"/>
                        </a:rPr>
                        <a:t>137</a:t>
                      </a:r>
                    </a:p>
                  </a:txBody>
                  <a:tcPr marL="91440" marR="91440" marT="45720" marB="45720">
                    <a:solidFill>
                      <a:srgbClr val="F1F5F3"/>
                    </a:solidFill>
                  </a:tcPr>
                </a:tc>
              </a:tr>
              <a:tr h="698500">
                <a:tc>
                  <a:txBody>
                    <a:bodyPr/>
                    <a:lstStyle/>
                    <a:p>
                      <a:r>
                        <a:rPr sz="1500" b="0">
                          <a:solidFill>
                            <a:srgbClr val="172D36"/>
                          </a:solidFill>
                          <a:latin typeface="Helvetica Neue"/>
                          <a:ea typeface="Helvetica Neue"/>
                          <a:cs typeface="Helvetica Neue"/>
                        </a:rPr>
                        <a:t>Right</a:t>
                      </a:r>
                    </a:p>
                  </a:txBody>
                  <a:tcPr marL="91440" marR="91440" marT="45720" marB="45720">
                    <a:solidFill>
                      <a:srgbClr val="F1F5F3"/>
                    </a:solidFill>
                  </a:tcPr>
                </a:tc>
                <a:tc>
                  <a:txBody>
                    <a:bodyPr/>
                    <a:lstStyle/>
                    <a:p>
                      <a:r>
                        <a:rPr sz="1500" b="0">
                          <a:solidFill>
                            <a:srgbClr val="172D36"/>
                          </a:solidFill>
                          <a:latin typeface="Helvetica Neue"/>
                          <a:ea typeface="Helvetica Neue"/>
                          <a:cs typeface="Helvetica Neue"/>
                        </a:rPr>
                        <a:t>71</a:t>
                      </a:r>
                    </a:p>
                  </a:txBody>
                  <a:tcPr marL="91440" marR="91440" marT="45720" marB="45720">
                    <a:solidFill>
                      <a:srgbClr val="F1F5F3"/>
                    </a:solidFill>
                  </a:tcPr>
                </a:tc>
                <a:tc>
                  <a:txBody>
                    <a:bodyPr/>
                    <a:lstStyle/>
                    <a:p>
                      <a:r>
                        <a:rPr sz="1500" b="0">
                          <a:solidFill>
                            <a:srgbClr val="172D36"/>
                          </a:solidFill>
                          <a:latin typeface="Helvetica Neue"/>
                          <a:ea typeface="Helvetica Neue"/>
                          <a:cs typeface="Helvetica Neue"/>
                        </a:rPr>
                        <a:t>152</a:t>
                      </a:r>
                    </a:p>
                  </a:txBody>
                  <a:tcPr marL="91440" marR="91440" marT="45720" marB="45720">
                    <a:solidFill>
                      <a:srgbClr val="F1F5F3"/>
                    </a:solidFill>
                  </a:tcPr>
                </a:tc>
              </a:tr>
            </a:tbl>
          </a:graphicData>
        </a:graphic>
      </p:graphicFrame>
      <p:sp>
        <p:nvSpPr>
          <p:cNvPr id="9" name="">
            <a:extLst xmlns:a="http://schemas.openxmlformats.org/drawingml/2006/main">
              <a:ext uri="{FF2B5EF4-FFF2-40B4-BE49-F238E27FC236}">
                <a16:creationId xmlns:a16="http://schemas.microsoft.com/office/drawing/2014/main" id="{BDFB9C4E-11EC-4B18-BA4C-D34D28856D4E}"/>
              </a:ext>
            </a:extLst>
          </p:cNvPr>
          <p:cNvSpPr>
            <a:spLocks xmlns:a="http://schemas.openxmlformats.org/drawingml/2006/main" noGrp="1"/>
          </p:cNvSpPr>
          <p:nvPr/>
        </p:nvSpPr>
        <p:spPr>
          <a:xfrm xmlns:a="http://schemas.openxmlformats.org/drawingml/2006/main">
            <a:off x="762000" y="55245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53B44"/>
                </a:solidFill>
                <a:latin typeface="Helvetica Neue"/>
                <a:ea typeface="Helvetica Neue"/>
                <a:cs typeface="Helvetica Neue"/>
              </a:defRPr>
            </a:pPr>
            <a:r>
              <a:rPr sz="1725" b="0">
                <a:solidFill>
                  <a:srgbClr val="253B44"/>
                </a:solidFill>
                <a:latin typeface="Helvetica Neue"/>
                <a:ea typeface="Helvetica Neue"/>
                <a:cs typeface="Helvetica Neue"/>
              </a:rPr>
              <a:t>Subject identification across runs: 95.7%; chance: 3.3%.</a:t>
            </a:r>
          </a:p>
        </p:txBody>
      </p:sp>
      <p:sp>
        <p:nvSpPr>
          <p:cNvPr id="10" name="">
            <a:extLst xmlns:a="http://schemas.openxmlformats.org/drawingml/2006/main">
              <a:ext uri="{FF2B5EF4-FFF2-40B4-BE49-F238E27FC236}">
                <a16:creationId xmlns:a16="http://schemas.microsoft.com/office/drawing/2014/main" id="{A6A4C96A-64DB-488C-BBCD-21D1485E82A8}"/>
              </a:ext>
            </a:extLst>
          </p:cNvPr>
          <p:cNvSpPr>
            <a:spLocks xmlns:a="http://schemas.openxmlformats.org/drawingml/2006/main" noGrp="1"/>
          </p:cNvSpPr>
          <p:nvPr/>
        </p:nvSpPr>
        <p:spPr>
          <a:xfrm xmlns:a="http://schemas.openxmlformats.org/drawingml/2006/main">
            <a:off x="762000" y="60007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53B44"/>
                </a:solidFill>
                <a:latin typeface="Helvetica Neue"/>
                <a:ea typeface="Helvetica Neue"/>
                <a:cs typeface="Helvetica Neue"/>
              </a:defRPr>
            </a:pPr>
            <a:r>
              <a:rPr sz="1725" b="0">
                <a:solidFill>
                  <a:srgbClr val="253B44"/>
                </a:solidFill>
                <a:latin typeface="Helvetica Neue"/>
                <a:ea typeface="Helvetica Neue"/>
                <a:cs typeface="Helvetica Neue"/>
              </a:rPr>
              <a:t>Also tested majority labels, run/trial-position metadata, and 100 label permutations.</a:t>
            </a:r>
          </a:p>
        </p:txBody>
      </p:sp>
    </p:spTree>
    <p:extLst>
      <p:ext uri="{BB962C8B-B14F-4D97-AF65-F5344CB8AC3E}">
        <p14:creationId xmlns:p14="http://schemas.microsoft.com/office/powerpoint/2010/main" val="774265592"/>
      </p:ext>
    </p:extLst>
  </p:cSld>
</p:sld>
</file>

<file path=ppt/slides/slide5.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116F5B-D3AE-43E3-AAE1-3DF2F93F4E67}"/>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C4594862-B42A-43B3-A833-7EF9ABEC7981}"/>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Design decision: ship the spectral model</a:t>
            </a:r>
          </a:p>
        </p:txBody>
      </p:sp>
      <p:sp>
        <p:nvSpPr>
          <p:cNvPr id="3" name="">
            <a:extLst xmlns:a="http://schemas.openxmlformats.org/drawingml/2006/main">
              <a:ext uri="{FF2B5EF4-FFF2-40B4-BE49-F238E27FC236}">
                <a16:creationId xmlns:a16="http://schemas.microsoft.com/office/drawing/2014/main" id="{B6480208-0496-4BD4-A5B6-FDD75D2FA864}"/>
              </a:ext>
            </a:extLst>
          </p:cNvPr>
          <p:cNvSpPr>
            <a:spLocks xmlns:a="http://schemas.openxmlformats.org/drawingml/2006/main" noGrp="1"/>
          </p:cNvSpPr>
          <p:nvPr/>
        </p:nvSpPr>
        <p:spPr>
          <a:xfrm xmlns:a="http://schemas.openxmlformats.org/drawingml/2006/main">
            <a:off x="762000" y="1857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Spectral grouped score: 53.3%.</a:t>
            </a:r>
          </a:p>
        </p:txBody>
      </p:sp>
      <p:sp>
        <p:nvSpPr>
          <p:cNvPr id="4" name="">
            <a:extLst xmlns:a="http://schemas.openxmlformats.org/drawingml/2006/main">
              <a:ext uri="{FF2B5EF4-FFF2-40B4-BE49-F238E27FC236}">
                <a16:creationId xmlns:a16="http://schemas.microsoft.com/office/drawing/2014/main" id="{27AA437A-8A74-4F97-B2EB-FC20B05A6522}"/>
              </a:ext>
            </a:extLst>
          </p:cNvPr>
          <p:cNvSpPr>
            <a:spLocks xmlns:a="http://schemas.openxmlformats.org/drawingml/2006/main" noGrp="1"/>
          </p:cNvSpPr>
          <p:nvPr/>
        </p:nvSpPr>
        <p:spPr>
          <a:xfrm xmlns:a="http://schemas.openxmlformats.org/drawingml/2006/main">
            <a:off x="762000" y="23907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CSP grouped score: 53.3%.</a:t>
            </a:r>
          </a:p>
        </p:txBody>
      </p:sp>
      <p:sp>
        <p:nvSpPr>
          <p:cNvPr id="5" name="">
            <a:extLst xmlns:a="http://schemas.openxmlformats.org/drawingml/2006/main">
              <a:ext uri="{FF2B5EF4-FFF2-40B4-BE49-F238E27FC236}">
                <a16:creationId xmlns:a16="http://schemas.microsoft.com/office/drawing/2014/main" id="{A1D4F9CB-5DD5-474E-9B57-9E091AFF9883}"/>
              </a:ext>
            </a:extLst>
          </p:cNvPr>
          <p:cNvSpPr>
            <a:spLocks xmlns:a="http://schemas.openxmlformats.org/drawingml/2006/main" noGrp="1"/>
          </p:cNvSpPr>
          <p:nvPr/>
        </p:nvSpPr>
        <p:spPr>
          <a:xfrm xmlns:a="http://schemas.openxmlformats.org/drawingml/2006/main">
            <a:off x="762000" y="2924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Fixed rule: choose CSP only if it exceeds spectral by at least 1 percentage point.</a:t>
            </a:r>
          </a:p>
        </p:txBody>
      </p:sp>
      <p:sp>
        <p:nvSpPr>
          <p:cNvPr id="6" name="">
            <a:extLst xmlns:a="http://schemas.openxmlformats.org/drawingml/2006/main">
              <a:ext uri="{FF2B5EF4-FFF2-40B4-BE49-F238E27FC236}">
                <a16:creationId xmlns:a16="http://schemas.microsoft.com/office/drawing/2014/main" id="{E9A5FBB8-DC14-436E-99EE-AD9B26AB4067}"/>
              </a:ext>
            </a:extLst>
          </p:cNvPr>
          <p:cNvSpPr>
            <a:spLocks xmlns:a="http://schemas.openxmlformats.org/drawingml/2006/main" noGrp="1"/>
          </p:cNvSpPr>
          <p:nvPr/>
        </p:nvSpPr>
        <p:spPr>
          <a:xfrm xmlns:a="http://schemas.openxmlformats.org/drawingml/2006/main">
            <a:off x="762000" y="34575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Two interpretable power-based models; no parameter search or test-person fitting.</a:t>
            </a:r>
          </a:p>
        </p:txBody>
      </p:sp>
    </p:spTree>
    <p:extLst>
      <p:ext uri="{BB962C8B-B14F-4D97-AF65-F5344CB8AC3E}">
        <p14:creationId xmlns:p14="http://schemas.microsoft.com/office/powerpoint/2010/main" val="1476283607"/>
      </p:ext>
    </p:extLst>
  </p:cSld>
</p:sld>
</file>

<file path=ppt/slides/slide6.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55F432-91D0-4208-A89A-1FA0C4493479}"/>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D4B2D003-8327-4D94-A015-4A4BD833954B}"/>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A working raw-EDF prediction interface</a:t>
            </a:r>
          </a:p>
        </p:txBody>
      </p:sp>
      <p:sp>
        <p:nvSpPr>
          <p:cNvPr id="3" name="">
            <a:extLst xmlns:a="http://schemas.openxmlformats.org/drawingml/2006/main">
              <a:ext uri="{FF2B5EF4-FFF2-40B4-BE49-F238E27FC236}">
                <a16:creationId xmlns:a16="http://schemas.microsoft.com/office/drawing/2014/main" id="{5ADE5E86-022B-4196-828C-267C5D73E1BF}"/>
              </a:ext>
            </a:extLst>
          </p:cNvPr>
          <p:cNvSpPr>
            <a:spLocks xmlns:a="http://schemas.openxmlformats.org/drawingml/2006/main" noGrp="1"/>
          </p:cNvSpPr>
          <p:nvPr/>
        </p:nvSpPr>
        <p:spPr>
          <a:xfrm xmlns:a="http://schemas.openxmlformats.org/drawingml/2006/main">
            <a:off x="762000" y="1857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44"/>
                </a:solidFill>
                <a:latin typeface="Helvetica Neue"/>
                <a:ea typeface="Helvetica Neue"/>
                <a:cs typeface="Helvetica Neue"/>
              </a:defRPr>
            </a:pPr>
            <a:r>
              <a:rPr sz="1650" b="0">
                <a:solidFill>
                  <a:srgbClr val="253B44"/>
                </a:solidFill>
                <a:latin typeface="Helvetica Neue"/>
                <a:ea typeface="Helvetica Neue"/>
                <a:cs typeface="Helvetica Neue"/>
              </a:rPr>
              <a:t>uv run python -m neurotech.predict --edf data/raw/S040/S040R04.edf \</a:t>
            </a:r>
          </a:p>
        </p:txBody>
      </p:sp>
      <p:sp>
        <p:nvSpPr>
          <p:cNvPr id="4" name="">
            <a:extLst xmlns:a="http://schemas.openxmlformats.org/drawingml/2006/main">
              <a:ext uri="{FF2B5EF4-FFF2-40B4-BE49-F238E27FC236}">
                <a16:creationId xmlns:a16="http://schemas.microsoft.com/office/drawing/2014/main" id="{F324E627-423D-4DA2-98A2-4ABB7A145CD4}"/>
              </a:ext>
            </a:extLst>
          </p:cNvPr>
          <p:cNvSpPr>
            <a:spLocks xmlns:a="http://schemas.openxmlformats.org/drawingml/2006/main" noGrp="1"/>
          </p:cNvSpPr>
          <p:nvPr/>
        </p:nvSpPr>
        <p:spPr>
          <a:xfrm xmlns:a="http://schemas.openxmlformats.org/drawingml/2006/main">
            <a:off x="762000" y="23907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44"/>
                </a:solidFill>
                <a:latin typeface="Helvetica Neue"/>
                <a:ea typeface="Helvetica Neue"/>
                <a:cs typeface="Helvetica Neue"/>
              </a:defRPr>
            </a:pPr>
            <a:r>
              <a:rPr sz="1650" b="0">
                <a:solidFill>
                  <a:srgbClr val="253B44"/>
                </a:solidFill>
                <a:latin typeface="Helvetica Neue"/>
                <a:ea typeface="Helvetica Neue"/>
                <a:cs typeface="Helvetica Neue"/>
              </a:rPr>
              <a:t>  --model artifacts/model.joblib --output predictions.csv</a:t>
            </a:r>
          </a:p>
        </p:txBody>
      </p:sp>
      <p:sp>
        <p:nvSpPr>
          <p:cNvPr id="5" name="">
            <a:extLst xmlns:a="http://schemas.openxmlformats.org/drawingml/2006/main">
              <a:ext uri="{FF2B5EF4-FFF2-40B4-BE49-F238E27FC236}">
                <a16:creationId xmlns:a16="http://schemas.microsoft.com/office/drawing/2014/main" id="{C82D40BB-00E3-4575-8D5E-8854FE644B6C}"/>
              </a:ext>
            </a:extLst>
          </p:cNvPr>
          <p:cNvSpPr>
            <a:spLocks xmlns:a="http://schemas.openxmlformats.org/drawingml/2006/main" noGrp="1"/>
          </p:cNvSpPr>
          <p:nvPr/>
        </p:nvSpPr>
        <p:spPr>
          <a:xfrm xmlns:a="http://schemas.openxmlformats.org/drawingml/2006/main">
            <a:off x="762000" y="30956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44"/>
                </a:solidFill>
                <a:latin typeface="Helvetica Neue"/>
                <a:ea typeface="Helvetica Neue"/>
                <a:cs typeface="Helvetica Neue"/>
              </a:defRPr>
            </a:pPr>
            <a:r>
              <a:rPr sz="1650" b="0">
                <a:solidFill>
                  <a:srgbClr val="253B44"/>
                </a:solidFill>
                <a:latin typeface="Helvetica Neue"/>
                <a:ea typeface="Helvetica Neue"/>
                <a:cs typeface="Helvetica Neue"/>
              </a:rPr>
              <a:t>Cue 00, onset 4.1s → left [high_amplitude]</a:t>
            </a:r>
          </a:p>
        </p:txBody>
      </p:sp>
      <p:sp>
        <p:nvSpPr>
          <p:cNvPr id="6" name="">
            <a:extLst xmlns:a="http://schemas.openxmlformats.org/drawingml/2006/main">
              <a:ext uri="{FF2B5EF4-FFF2-40B4-BE49-F238E27FC236}">
                <a16:creationId xmlns:a16="http://schemas.microsoft.com/office/drawing/2014/main" id="{AE1F3253-FC8B-4A22-84D1-7FC98367062D}"/>
              </a:ext>
            </a:extLst>
          </p:cNvPr>
          <p:cNvSpPr>
            <a:spLocks xmlns:a="http://schemas.openxmlformats.org/drawingml/2006/main" noGrp="1"/>
          </p:cNvSpPr>
          <p:nvPr/>
        </p:nvSpPr>
        <p:spPr>
          <a:xfrm xmlns:a="http://schemas.openxmlformats.org/drawingml/2006/main">
            <a:off x="762000" y="36290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44"/>
                </a:solidFill>
                <a:latin typeface="Helvetica Neue"/>
                <a:ea typeface="Helvetica Neue"/>
                <a:cs typeface="Helvetica Neue"/>
              </a:defRPr>
            </a:pPr>
            <a:r>
              <a:rPr sz="1650" b="0">
                <a:solidFill>
                  <a:srgbClr val="253B44"/>
                </a:solidFill>
                <a:latin typeface="Helvetica Neue"/>
                <a:ea typeface="Helvetica Neue"/>
                <a:cs typeface="Helvetica Neue"/>
              </a:rPr>
              <a:t>Cue 01, onset 12.3s → left [high_amplitude]</a:t>
            </a:r>
          </a:p>
        </p:txBody>
      </p:sp>
      <p:sp>
        <p:nvSpPr>
          <p:cNvPr id="7" name="">
            <a:extLst xmlns:a="http://schemas.openxmlformats.org/drawingml/2006/main">
              <a:ext uri="{FF2B5EF4-FFF2-40B4-BE49-F238E27FC236}">
                <a16:creationId xmlns:a16="http://schemas.microsoft.com/office/drawing/2014/main" id="{9A070427-4CFD-4907-ADC6-8C6173779EA2}"/>
              </a:ext>
            </a:extLst>
          </p:cNvPr>
          <p:cNvSpPr>
            <a:spLocks xmlns:a="http://schemas.openxmlformats.org/drawingml/2006/main" noGrp="1"/>
          </p:cNvSpPr>
          <p:nvPr/>
        </p:nvSpPr>
        <p:spPr>
          <a:xfrm xmlns:a="http://schemas.openxmlformats.org/drawingml/2006/main">
            <a:off x="762000" y="41624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44"/>
                </a:solidFill>
                <a:latin typeface="Helvetica Neue"/>
                <a:ea typeface="Helvetica Neue"/>
                <a:cs typeface="Helvetica Neue"/>
              </a:defRPr>
            </a:pPr>
            <a:r>
              <a:rPr sz="1650" b="0">
                <a:solidFill>
                  <a:srgbClr val="253B44"/>
                </a:solidFill>
                <a:latin typeface="Helvetica Neue"/>
                <a:ea typeface="Helvetica Neue"/>
                <a:cs typeface="Helvetica Neue"/>
              </a:rPr>
              <a:t>Cue 02, onset 20.5s → right [high_amplitude]</a:t>
            </a:r>
          </a:p>
        </p:txBody>
      </p:sp>
      <p:sp>
        <p:nvSpPr>
          <p:cNvPr id="8" name="">
            <a:extLst xmlns:a="http://schemas.openxmlformats.org/drawingml/2006/main">
              <a:ext uri="{FF2B5EF4-FFF2-40B4-BE49-F238E27FC236}">
                <a16:creationId xmlns:a16="http://schemas.microsoft.com/office/drawing/2014/main" id="{0BBC042E-0853-4ABE-8649-E74934796EC8}"/>
              </a:ext>
            </a:extLst>
          </p:cNvPr>
          <p:cNvSpPr>
            <a:spLocks xmlns:a="http://schemas.openxmlformats.org/drawingml/2006/main" noGrp="1"/>
          </p:cNvSpPr>
          <p:nvPr/>
        </p:nvSpPr>
        <p:spPr>
          <a:xfrm xmlns:a="http://schemas.openxmlformats.org/drawingml/2006/main">
            <a:off x="762000" y="46958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53B44"/>
                </a:solidFill>
                <a:latin typeface="Helvetica Neue"/>
                <a:ea typeface="Helvetica Neue"/>
                <a:cs typeface="Helvetica Neue"/>
              </a:defRPr>
            </a:pPr>
            <a:r>
              <a:rPr sz="1650" b="0">
                <a:solidFill>
                  <a:srgbClr val="253B44"/>
                </a:solidFill>
                <a:latin typeface="Helvetica Neue"/>
                <a:ea typeface="Helvetica Neue"/>
                <a:cs typeface="Helvetica Neue"/>
              </a:rPr>
              <a:t>Shown: actual saved CLI output, verified against evaluation predictions.</a:t>
            </a:r>
          </a:p>
        </p:txBody>
      </p:sp>
    </p:spTree>
    <p:extLst>
      <p:ext uri="{BB962C8B-B14F-4D97-AF65-F5344CB8AC3E}">
        <p14:creationId xmlns:p14="http://schemas.microsoft.com/office/powerpoint/2010/main" val="407640002"/>
      </p:ext>
    </p:extLst>
  </p:cSld>
</p:sld>
</file>

<file path=ppt/slides/slide7.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6C945D-2B03-4F74-9311-DC57FEEC7504}"/>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4EEA6487-9C0F-439B-AF39-74F4528992AD}"/>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Weakest point: cue direction and task are entangled</a:t>
            </a:r>
          </a:p>
        </p:txBody>
      </p:sp>
      <p:sp>
        <p:nvSpPr>
          <p:cNvPr id="3" name="">
            <a:extLst xmlns:a="http://schemas.openxmlformats.org/drawingml/2006/main">
              <a:ext uri="{FF2B5EF4-FFF2-40B4-BE49-F238E27FC236}">
                <a16:creationId xmlns:a16="http://schemas.microsoft.com/office/drawing/2014/main" id="{7DAEED43-D763-4B4F-BFC7-503E23F7A1E1}"/>
              </a:ext>
            </a:extLst>
          </p:cNvPr>
          <p:cNvSpPr>
            <a:spLocks xmlns:a="http://schemas.openxmlformats.org/drawingml/2006/main" noGrp="1"/>
          </p:cNvSpPr>
          <p:nvPr/>
        </p:nvSpPr>
        <p:spPr>
          <a:xfrm xmlns:a="http://schemas.openxmlformats.org/drawingml/2006/main">
            <a:off x="762000" y="1857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Central-only score: 54.4%. Occipital-only score: 53.9%.</a:t>
            </a:r>
          </a:p>
        </p:txBody>
      </p:sp>
      <p:sp>
        <p:nvSpPr>
          <p:cNvPr id="4" name="">
            <a:extLst xmlns:a="http://schemas.openxmlformats.org/drawingml/2006/main">
              <a:ext uri="{FF2B5EF4-FFF2-40B4-BE49-F238E27FC236}">
                <a16:creationId xmlns:a16="http://schemas.microsoft.com/office/drawing/2014/main" id="{753E6033-72EF-436F-81F3-0F76BCFB374A}"/>
              </a:ext>
            </a:extLst>
          </p:cNvPr>
          <p:cNvSpPr>
            <a:spLocks xmlns:a="http://schemas.openxmlformats.org/drawingml/2006/main" noGrp="1"/>
          </p:cNvSpPr>
          <p:nvPr/>
        </p:nvSpPr>
        <p:spPr>
          <a:xfrm xmlns:a="http://schemas.openxmlformats.org/drawingml/2006/main">
            <a:off x="762000" y="23907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Left and right visual targets are correlated with the imagined hand.</a:t>
            </a:r>
          </a:p>
        </p:txBody>
      </p:sp>
      <p:sp>
        <p:nvSpPr>
          <p:cNvPr id="5" name="">
            <a:extLst xmlns:a="http://schemas.openxmlformats.org/drawingml/2006/main">
              <a:ext uri="{FF2B5EF4-FFF2-40B4-BE49-F238E27FC236}">
                <a16:creationId xmlns:a16="http://schemas.microsoft.com/office/drawing/2014/main" id="{797E059B-A6CB-4460-9890-8214185D5007}"/>
              </a:ext>
            </a:extLst>
          </p:cNvPr>
          <p:cNvSpPr>
            <a:spLocks xmlns:a="http://schemas.openxmlformats.org/drawingml/2006/main" noGrp="1"/>
          </p:cNvSpPr>
          <p:nvPr/>
        </p:nvSpPr>
        <p:spPr>
          <a:xfrm xmlns:a="http://schemas.openxmlformats.org/drawingml/2006/main">
            <a:off x="762000" y="2924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Regional models use separate within-group references and identical splits.</a:t>
            </a:r>
          </a:p>
        </p:txBody>
      </p:sp>
      <p:sp>
        <p:nvSpPr>
          <p:cNvPr id="6" name="">
            <a:extLst xmlns:a="http://schemas.openxmlformats.org/drawingml/2006/main">
              <a:ext uri="{FF2B5EF4-FFF2-40B4-BE49-F238E27FC236}">
                <a16:creationId xmlns:a16="http://schemas.microsoft.com/office/drawing/2014/main" id="{BC0D3155-DAB5-4EB5-A88B-220D0E9F4492}"/>
              </a:ext>
            </a:extLst>
          </p:cNvPr>
          <p:cNvSpPr>
            <a:spLocks xmlns:a="http://schemas.openxmlformats.org/drawingml/2006/main" noGrp="1"/>
          </p:cNvSpPr>
          <p:nvPr/>
        </p:nvSpPr>
        <p:spPr>
          <a:xfrm xmlns:a="http://schemas.openxmlformats.org/drawingml/2006/main">
            <a:off x="762000" y="34575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Predictive occipital EEG is not proof of a visual source—or motor specificity.</a:t>
            </a:r>
          </a:p>
        </p:txBody>
      </p:sp>
    </p:spTree>
    <p:extLst>
      <p:ext uri="{BB962C8B-B14F-4D97-AF65-F5344CB8AC3E}">
        <p14:creationId xmlns:p14="http://schemas.microsoft.com/office/powerpoint/2010/main" val="1988612977"/>
      </p:ext>
    </p:extLst>
  </p:cSld>
</p:sld>
</file>

<file path=ppt/slides/slide8.xml><?xml version="1.0" encoding="utf-8"?>
<p:sld xmlns:p="http://schemas.openxmlformats.org/presentationml/2006/main">
  <p:cSld>
    <p:bg>
      <p:bgPr>
        <a:solidFill xmlns:a="http://schemas.openxmlformats.org/drawingml/2006/main">
          <a:srgbClr val="F8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FF203B-01B7-480F-AA5C-0672A806354C}"/>
              </a:ext>
            </a:extLst>
          </p:cNvPr>
          <p:cNvSpPr>
            <a:spLocks xmlns:a="http://schemas.openxmlformats.org/drawingml/2006/main" noGrp="1"/>
          </p:cNvSpPr>
          <p:nvPr/>
        </p:nvSpPr>
        <p:spPr>
          <a:xfrm xmlns:a="http://schemas.openxmlformats.org/drawingml/2006/main">
            <a:off x="666750" y="2381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A87"/>
                </a:solidFill>
                <a:latin typeface="Helvetica Neue"/>
                <a:ea typeface="Helvetica Neue"/>
                <a:cs typeface="Helvetica Neue"/>
              </a:defRPr>
            </a:pPr>
            <a:r>
              <a:rPr sz="1200" b="1">
                <a:solidFill>
                  <a:srgbClr val="237A87"/>
                </a:solidFill>
                <a:latin typeface="Helvetica Neue"/>
                <a:ea typeface="Helvetica Neue"/>
                <a:cs typeface="Helvetica Neue"/>
              </a:rPr>
              <a:t>NEUROTECH / EEGMMIDB</a:t>
            </a:r>
          </a:p>
        </p:txBody>
      </p:sp>
      <p:sp>
        <p:nvSpPr>
          <p:cNvPr id="2" name="">
            <a:extLst xmlns:a="http://schemas.openxmlformats.org/drawingml/2006/main">
              <a:ext uri="{FF2B5EF4-FFF2-40B4-BE49-F238E27FC236}">
                <a16:creationId xmlns:a16="http://schemas.microsoft.com/office/drawing/2014/main" id="{4992DB08-770D-4AA9-A9A1-73D692A5F7B6}"/>
              </a:ext>
            </a:extLst>
          </p:cNvPr>
          <p:cNvSpPr>
            <a:spLocks xmlns:a="http://schemas.openxmlformats.org/drawingml/2006/main" noGrp="1"/>
          </p:cNvSpPr>
          <p:nvPr/>
        </p:nvSpPr>
        <p:spPr>
          <a:xfrm xmlns:a="http://schemas.openxmlformats.org/drawingml/2006/main">
            <a:off x="666750" y="685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D36"/>
                </a:solidFill>
                <a:latin typeface="Helvetica Neue"/>
                <a:ea typeface="Helvetica Neue"/>
                <a:cs typeface="Helvetica Neue"/>
              </a:defRPr>
            </a:pPr>
            <a:r>
              <a:rPr sz="2775" b="1">
                <a:solidFill>
                  <a:srgbClr val="172D36"/>
                </a:solidFill>
                <a:latin typeface="Helvetica Neue"/>
                <a:ea typeface="Helvetica Neue"/>
                <a:cs typeface="Helvetica Neue"/>
              </a:rPr>
              <a:t>What I would do next</a:t>
            </a:r>
          </a:p>
        </p:txBody>
      </p:sp>
      <p:sp>
        <p:nvSpPr>
          <p:cNvPr id="3" name="">
            <a:extLst xmlns:a="http://schemas.openxmlformats.org/drawingml/2006/main">
              <a:ext uri="{FF2B5EF4-FFF2-40B4-BE49-F238E27FC236}">
                <a16:creationId xmlns:a16="http://schemas.microsoft.com/office/drawing/2014/main" id="{B44DD753-CB41-46F0-BC29-EE310D7FFC84}"/>
              </a:ext>
            </a:extLst>
          </p:cNvPr>
          <p:cNvSpPr>
            <a:spLocks xmlns:a="http://schemas.openxmlformats.org/drawingml/2006/main" noGrp="1"/>
          </p:cNvSpPr>
          <p:nvPr/>
        </p:nvSpPr>
        <p:spPr>
          <a:xfrm xmlns:a="http://schemas.openxmlformats.org/drawingml/2006/main">
            <a:off x="762000" y="1857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Separate cue direction from imagined hand in the experimental protocol.</a:t>
            </a:r>
          </a:p>
        </p:txBody>
      </p:sp>
      <p:sp>
        <p:nvSpPr>
          <p:cNvPr id="4" name="">
            <a:extLst xmlns:a="http://schemas.openxmlformats.org/drawingml/2006/main">
              <a:ext uri="{FF2B5EF4-FFF2-40B4-BE49-F238E27FC236}">
                <a16:creationId xmlns:a16="http://schemas.microsoft.com/office/drawing/2014/main" id="{5E2DC30E-3633-4B34-8046-A0E649C23F94}"/>
              </a:ext>
            </a:extLst>
          </p:cNvPr>
          <p:cNvSpPr>
            <a:spLocks xmlns:a="http://schemas.openxmlformats.org/drawingml/2006/main" noGrp="1"/>
          </p:cNvSpPr>
          <p:nvPr/>
        </p:nvSpPr>
        <p:spPr>
          <a:xfrm xmlns:a="http://schemas.openxmlformats.org/drawingml/2006/main">
            <a:off x="762000" y="23907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Test new recording days and devices, then expand the fixed subject cohort.</a:t>
            </a:r>
          </a:p>
        </p:txBody>
      </p:sp>
      <p:sp>
        <p:nvSpPr>
          <p:cNvPr id="5" name="">
            <a:extLst xmlns:a="http://schemas.openxmlformats.org/drawingml/2006/main">
              <a:ext uri="{FF2B5EF4-FFF2-40B4-BE49-F238E27FC236}">
                <a16:creationId xmlns:a16="http://schemas.microsoft.com/office/drawing/2014/main" id="{45500FCE-3B42-400A-906C-349413717865}"/>
              </a:ext>
            </a:extLst>
          </p:cNvPr>
          <p:cNvSpPr>
            <a:spLocks xmlns:a="http://schemas.openxmlformats.org/drawingml/2006/main" noGrp="1"/>
          </p:cNvSpPr>
          <p:nvPr/>
        </p:nvSpPr>
        <p:spPr>
          <a:xfrm xmlns:a="http://schemas.openxmlformats.org/drawingml/2006/main">
            <a:off x="762000" y="2924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Compare richer models under the same subject-disjoint evaluation.</a:t>
            </a:r>
          </a:p>
        </p:txBody>
      </p:sp>
      <p:sp>
        <p:nvSpPr>
          <p:cNvPr id="6" name="">
            <a:extLst xmlns:a="http://schemas.openxmlformats.org/drawingml/2006/main">
              <a:ext uri="{FF2B5EF4-FFF2-40B4-BE49-F238E27FC236}">
                <a16:creationId xmlns:a16="http://schemas.microsoft.com/office/drawing/2014/main" id="{53F70184-18F4-4C5A-A7A2-8F406A87428E}"/>
              </a:ext>
            </a:extLst>
          </p:cNvPr>
          <p:cNvSpPr>
            <a:spLocks xmlns:a="http://schemas.openxmlformats.org/drawingml/2006/main" noGrp="1"/>
          </p:cNvSpPr>
          <p:nvPr/>
        </p:nvSpPr>
        <p:spPr>
          <a:xfrm xmlns:a="http://schemas.openxmlformats.org/drawingml/2006/main">
            <a:off x="762000" y="34575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44"/>
                </a:solidFill>
                <a:latin typeface="Helvetica Neue"/>
                <a:ea typeface="Helvetica Neue"/>
                <a:cs typeface="Helvetica Neue"/>
              </a:defRPr>
            </a:pPr>
            <a:r>
              <a:rPr sz="1950" b="0">
                <a:solidFill>
                  <a:srgbClr val="253B44"/>
                </a:solidFill>
                <a:latin typeface="Helvetica Neue"/>
                <a:ea typeface="Helvetica Neue"/>
                <a:cs typeface="Helvetica Neue"/>
              </a:rPr>
              <a:t>Code, trained model, trial predictions, audit, and report are included.</a:t>
            </a:r>
          </a:p>
        </p:txBody>
      </p:sp>
    </p:spTree>
    <p:extLst>
      <p:ext uri="{BB962C8B-B14F-4D97-AF65-F5344CB8AC3E}">
        <p14:creationId xmlns:p14="http://schemas.microsoft.com/office/powerpoint/2010/main" val="12113616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2026-09-12T06:13:10.5600000Z</dcterms:created>
  <dcterms:modified xsi:type="dcterms:W3CDTF">2026-09-12T06:13:10.5600000Z</dcterms:modified>
</coreProperties>
</file>